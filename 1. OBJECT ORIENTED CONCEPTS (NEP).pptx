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embeddedFontLst>
    <p:embeddedFont>
      <p:font typeface="Libre Franklin"/>
      <p:regular r:id="rId30"/>
      <p:bold r:id="rId31"/>
      <p:italic r:id="rId32"/>
      <p:boldItalic r:id="rId33"/>
    </p:embeddedFont>
    <p:embeddedFont>
      <p:font typeface="Libre Baskerville"/>
      <p:regular r:id="rId34"/>
      <p:bold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Franklin-bold.fntdata"/><Relationship Id="rId30" Type="http://schemas.openxmlformats.org/officeDocument/2006/relationships/font" Target="fonts/LibreFranklin-regular.fntdata"/><Relationship Id="rId11" Type="http://schemas.openxmlformats.org/officeDocument/2006/relationships/slide" Target="slides/slide6.xml"/><Relationship Id="rId33" Type="http://schemas.openxmlformats.org/officeDocument/2006/relationships/font" Target="fonts/LibreFranklin-boldItalic.fntdata"/><Relationship Id="rId10" Type="http://schemas.openxmlformats.org/officeDocument/2006/relationships/slide" Target="slides/slide5.xml"/><Relationship Id="rId32" Type="http://schemas.openxmlformats.org/officeDocument/2006/relationships/font" Target="fonts/LibreFranklin-italic.fntdata"/><Relationship Id="rId13" Type="http://schemas.openxmlformats.org/officeDocument/2006/relationships/slide" Target="slides/slide8.xml"/><Relationship Id="rId35" Type="http://schemas.openxmlformats.org/officeDocument/2006/relationships/font" Target="fonts/LibreBaskerville-bold.fntdata"/><Relationship Id="rId12" Type="http://schemas.openxmlformats.org/officeDocument/2006/relationships/slide" Target="slides/slide7.xml"/><Relationship Id="rId34" Type="http://schemas.openxmlformats.org/officeDocument/2006/relationships/font" Target="fonts/LibreBaskervill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ibreBaskervill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FECC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FECC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p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5" name="Google Shape;55;p6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1" name="Google Shape;81;p10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FECC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FECCAA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FECCA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1AA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gif"/><Relationship Id="rId4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1259632" y="4365104"/>
            <a:ext cx="7200800" cy="1944216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>
              <a:solidFill>
                <a:srgbClr val="752B0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b="1" lang="en-IN">
                <a:solidFill>
                  <a:srgbClr val="8A9713"/>
                </a:solidFill>
                <a:latin typeface="Calibri"/>
                <a:ea typeface="Calibri"/>
                <a:cs typeface="Calibri"/>
                <a:sym typeface="Calibri"/>
              </a:rPr>
              <a:t>By-Ms.Aquilla Afonso</a:t>
            </a:r>
            <a:endParaRPr b="1">
              <a:solidFill>
                <a:srgbClr val="8A971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b="1" lang="en-IN">
                <a:solidFill>
                  <a:srgbClr val="8A9713"/>
                </a:solidFill>
                <a:latin typeface="Calibri"/>
                <a:ea typeface="Calibri"/>
                <a:cs typeface="Calibri"/>
                <a:sym typeface="Calibri"/>
              </a:rPr>
              <a:t>     Asst.Professor,St.Xavier’s College,Mapusa-Goa</a:t>
            </a:r>
            <a:endParaRPr b="1">
              <a:solidFill>
                <a:srgbClr val="8A97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en-IN"/>
              <a:t>OBJECT ORIENTED CONCEPTS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solidFill>
            <a:srgbClr val="FFEBD2"/>
          </a:solidFill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accent3"/>
                </a:solidFill>
              </a:rPr>
              <a:t>            objectives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914400" y="1772816"/>
            <a:ext cx="7772400" cy="4246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Noto Sans Symbols"/>
              <a:buChar char="❖"/>
            </a:pPr>
            <a:r>
              <a:rPr lang="en-IN"/>
              <a:t>To learn &amp; understand the difference between Procedure Oriented and Object Oriented Programming Languages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❖"/>
            </a:pPr>
            <a:r>
              <a:rPr lang="en-IN"/>
              <a:t>To learn &amp; understand the basic Concepts of Object Oriented Programming Language </a:t>
            </a:r>
            <a:endParaRPr/>
          </a:p>
          <a:p>
            <a:pPr indent="0" lvl="0" marL="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solidFill>
            <a:srgbClr val="FFEBD2"/>
          </a:solidFill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Libre Baskerville"/>
              <a:buNone/>
            </a:pPr>
            <a:r>
              <a:rPr b="1" lang="en-IN" sz="2800">
                <a:solidFill>
                  <a:schemeClr val="accent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UNIT 1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539552" y="2060848"/>
            <a:ext cx="8208912" cy="39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b="1" lang="en-IN"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b="1" lang="en-IN" sz="28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Introduction to Object Oriented Programming</a:t>
            </a:r>
            <a:endParaRPr sz="2800">
              <a:solidFill>
                <a:srgbClr val="00206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solidFill>
            <a:srgbClr val="FFEBD2"/>
          </a:solidFill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en-IN"/>
              <a:t>               </a:t>
            </a:r>
            <a:r>
              <a:rPr b="1" lang="en-IN">
                <a:solidFill>
                  <a:schemeClr val="accent3"/>
                </a:solidFill>
              </a:rPr>
              <a:t>What is POP?</a:t>
            </a:r>
            <a:endParaRPr b="1">
              <a:solidFill>
                <a:schemeClr val="accent3"/>
              </a:solidFill>
            </a:endParaRPr>
          </a:p>
        </p:txBody>
      </p:sp>
      <p:pic>
        <p:nvPicPr>
          <p:cNvPr id="120" name="Google Shape;12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1412776"/>
            <a:ext cx="6815138" cy="51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solidFill>
            <a:srgbClr val="FFEBD2"/>
          </a:solidFill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Libre Franklin"/>
              <a:buNone/>
            </a:pPr>
            <a:r>
              <a:rPr b="1" lang="en-IN" sz="3200">
                <a:solidFill>
                  <a:schemeClr val="accent3"/>
                </a:solidFill>
              </a:rPr>
              <a:t>              Disadvantages of POP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457200" y="2132857"/>
            <a:ext cx="8229600" cy="374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b="1" i="1" lang="en-IN" sz="2800">
                <a:solidFill>
                  <a:srgbClr val="7F2016"/>
                </a:solidFill>
              </a:rPr>
              <a:t>No security of data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b="1" i="1" lang="en-IN" sz="2800">
                <a:solidFill>
                  <a:srgbClr val="7F2016"/>
                </a:solidFill>
              </a:rPr>
              <a:t>No code reusability and hence time for development and testing increases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b="1" i="1" lang="en-IN" sz="2800">
                <a:solidFill>
                  <a:srgbClr val="7F2016"/>
                </a:solidFill>
              </a:rPr>
              <a:t>Poor memory management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b="1" i="1" lang="en-IN" sz="2800">
                <a:solidFill>
                  <a:srgbClr val="7F2016"/>
                </a:solidFill>
              </a:rPr>
              <a:t>As the length of the application increases it causes slow performance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Font typeface="Noto Sans Symbols"/>
              <a:buChar char="▪"/>
            </a:pPr>
            <a:r>
              <a:rPr b="1" i="1" lang="en-IN" sz="2800">
                <a:solidFill>
                  <a:srgbClr val="7F2016"/>
                </a:solidFill>
              </a:rPr>
              <a:t>Code maintenance and enhancement are difficult</a:t>
            </a:r>
            <a:endParaRPr b="1" i="1" sz="2800">
              <a:solidFill>
                <a:srgbClr val="7F2016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203848" y="6381328"/>
            <a:ext cx="5616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Unit 1:Introduction to Object Oriented Programming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323528" y="274638"/>
            <a:ext cx="8363272" cy="1426170"/>
          </a:xfrm>
          <a:prstGeom prst="rect">
            <a:avLst/>
          </a:prstGeom>
          <a:solidFill>
            <a:srgbClr val="F6CCC8"/>
          </a:solidFill>
          <a:ln cap="flat" cmpd="sng" w="9525">
            <a:solidFill>
              <a:srgbClr val="FFE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Libre Franklin"/>
              <a:buNone/>
            </a:pPr>
            <a:r>
              <a:rPr b="1" lang="en-IN" sz="3200">
                <a:solidFill>
                  <a:schemeClr val="accent3"/>
                </a:solidFill>
              </a:rPr>
              <a:t>Introduction to Object Oriented Programming</a:t>
            </a:r>
            <a:br>
              <a:rPr lang="en-IN" sz="3200"/>
            </a:br>
            <a:endParaRPr sz="3200"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457200" y="2060847"/>
            <a:ext cx="8229600" cy="3456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i="1" lang="en-IN">
                <a:solidFill>
                  <a:srgbClr val="752B02"/>
                </a:solidFill>
              </a:rPr>
              <a:t>Object oriented programming is based on the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i="1" lang="en-IN">
                <a:solidFill>
                  <a:srgbClr val="752B02"/>
                </a:solidFill>
              </a:rPr>
              <a:t>    concepts of objects.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>
              <a:solidFill>
                <a:srgbClr val="752B02"/>
              </a:solidFill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b="1" i="1" lang="en-IN">
                <a:solidFill>
                  <a:srgbClr val="FF0000"/>
                </a:solidFill>
              </a:rPr>
              <a:t>“Objects” </a:t>
            </a:r>
            <a:r>
              <a:rPr i="1" lang="en-IN">
                <a:solidFill>
                  <a:srgbClr val="752B02"/>
                </a:solidFill>
              </a:rPr>
              <a:t>are data structures that contain data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i="1" lang="en-IN">
                <a:solidFill>
                  <a:srgbClr val="752B02"/>
                </a:solidFill>
              </a:rPr>
              <a:t>    and functions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491880" y="6309320"/>
            <a:ext cx="540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Unit 1:Introduction to Object Oriented Programming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457200" y="274638"/>
            <a:ext cx="8229600" cy="994122"/>
          </a:xfrm>
          <a:prstGeom prst="rect">
            <a:avLst/>
          </a:prstGeom>
          <a:solidFill>
            <a:srgbClr val="F6CCC8"/>
          </a:solidFill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ibre Franklin"/>
              <a:buNone/>
            </a:pPr>
            <a:r>
              <a:rPr b="1" lang="en-IN" sz="3600">
                <a:solidFill>
                  <a:schemeClr val="accent2"/>
                </a:solidFill>
              </a:rPr>
              <a:t>Features of object oriented programming</a:t>
            </a:r>
            <a:endParaRPr b="1" sz="3600">
              <a:solidFill>
                <a:schemeClr val="accent2"/>
              </a:solidFill>
            </a:endParaRPr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467544" y="2060848"/>
            <a:ext cx="8229600" cy="3240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Emphasis is on data rather than functions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Programs are divided into objects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is hidden and cannot be accessed by external functions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Objects communicate with one another through functions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New functions and data can be added easily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▪"/>
            </a:pPr>
            <a:r>
              <a:rPr i="1" lang="en-IN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Functions that operate on the data of an object are tied together in the data structure.</a:t>
            </a:r>
            <a:endParaRPr i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131840" y="6237312"/>
            <a:ext cx="5544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Unit 1:Introduction to Object Oriented Programming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827584" y="260648"/>
            <a:ext cx="7988424" cy="1215008"/>
          </a:xfrm>
          <a:prstGeom prst="rect">
            <a:avLst/>
          </a:prstGeom>
          <a:solidFill>
            <a:srgbClr val="FFEBD2"/>
          </a:solidFill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Libre Franklin"/>
              <a:buNone/>
            </a:pPr>
            <a:r>
              <a:rPr b="1" i="0" lang="en-IN" sz="3200" u="none" cap="none" strike="noStrike">
                <a:solidFill>
                  <a:schemeClr val="accent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      </a:t>
            </a:r>
            <a:endParaRPr/>
          </a:p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Basic concepts of object oriented programming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914400" y="1988840"/>
            <a:ext cx="7772400" cy="403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Objects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Classes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Data abstraction and encapsulation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Polymorphism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Inheritance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Dynamic binding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Message communication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Objects – are basic runtime entities in an object oriented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system.They may represent a  person,place,bank account.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Objects contain data and code to manipulate the data.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example: </a:t>
            </a:r>
            <a:endParaRPr/>
          </a:p>
        </p:txBody>
      </p:sp>
      <p:pic>
        <p:nvPicPr>
          <p:cNvPr descr="object.png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4149079"/>
            <a:ext cx="6264696" cy="213307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899592" y="332656"/>
            <a:ext cx="7848872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8B1D1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                        class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Class- the entire set of data and code of an object can be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made a user-defined data type using the concept of a class.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Once a class has been defined ,any number of objects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belonging to that class can be created.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A class is a collection of objects of a similar type.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class</a:t>
            </a:r>
            <a:endParaRPr/>
          </a:p>
        </p:txBody>
      </p:sp>
      <p:pic>
        <p:nvPicPr>
          <p:cNvPr descr="C:\Users\admin\Desktop\class.jpg" id="168" name="Google Shape;16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628800"/>
            <a:ext cx="6542484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899592" y="332656"/>
            <a:ext cx="7776864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8B1D1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4" name="Google Shape;174;p2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Data abstraction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Data abstraction refers to the act of representing essential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features without including the background details.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Example: A class birds can have a list of attributes like size,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weight ,feathers with methods to operate on the attributes.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914400" y="214290"/>
            <a:ext cx="7772400" cy="58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en-IN"/>
              <a:t>Data Abstraction</a:t>
            </a:r>
            <a:endParaRPr/>
          </a:p>
        </p:txBody>
      </p:sp>
      <p:grpSp>
        <p:nvGrpSpPr>
          <p:cNvPr id="181" name="Google Shape;181;p25"/>
          <p:cNvGrpSpPr/>
          <p:nvPr/>
        </p:nvGrpSpPr>
        <p:grpSpPr>
          <a:xfrm>
            <a:off x="3500430" y="642918"/>
            <a:ext cx="2071702" cy="2071702"/>
            <a:chOff x="3428992" y="1643050"/>
            <a:chExt cx="2071702" cy="2071702"/>
          </a:xfrm>
        </p:grpSpPr>
        <p:sp>
          <p:nvSpPr>
            <p:cNvPr id="182" name="Google Shape;182;p25"/>
            <p:cNvSpPr/>
            <p:nvPr/>
          </p:nvSpPr>
          <p:spPr>
            <a:xfrm>
              <a:off x="3428992" y="1643050"/>
              <a:ext cx="2071702" cy="2071702"/>
            </a:xfrm>
            <a:prstGeom prst="rect">
              <a:avLst/>
            </a:prstGeom>
            <a:blipFill rotWithShape="1">
              <a:blip r:embed="rId3">
                <a:alphaModFix/>
              </a:blip>
              <a:tile algn="ctr" flip="none" tx="0" sx="70000" ty="0" sy="70000"/>
            </a:blipFill>
            <a:ln cap="flat" cmpd="sng" w="9525">
              <a:solidFill>
                <a:srgbClr val="4D882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t" dir="5400000" dist="25400">
                <a:srgbClr val="000000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Attributes</a:t>
              </a:r>
              <a:endParaRPr/>
            </a:p>
            <a:p>
              <a:pPr indent="-11430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Char char="-"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lays eggs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-feather</a:t>
              </a:r>
              <a:endPara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3428992" y="1643050"/>
              <a:ext cx="2071702" cy="57150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B874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Bird</a:t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sp>
        <p:nvSpPr>
          <p:cNvPr id="184" name="Google Shape;184;p25"/>
          <p:cNvSpPr/>
          <p:nvPr/>
        </p:nvSpPr>
        <p:spPr>
          <a:xfrm>
            <a:off x="1643042" y="2857496"/>
            <a:ext cx="2000264" cy="1071570"/>
          </a:xfrm>
          <a:prstGeom prst="rect">
            <a:avLst/>
          </a:prstGeom>
          <a:blipFill rotWithShape="1">
            <a:blip r:embed="rId4">
              <a:alphaModFix/>
            </a:blip>
            <a:tile algn="ctr" flip="none" tx="0" sx="70000" ty="0" sy="70000"/>
          </a:blipFill>
          <a:ln cap="flat" cmpd="sng" w="9525">
            <a:solidFill>
              <a:srgbClr val="59524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Attributes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6000760" y="2786058"/>
            <a:ext cx="1857388" cy="1143008"/>
          </a:xfrm>
          <a:prstGeom prst="rect">
            <a:avLst/>
          </a:prstGeom>
          <a:blipFill rotWithShape="1">
            <a:blip r:embed="rId4">
              <a:alphaModFix/>
            </a:blip>
            <a:tile algn="ctr" flip="none" tx="0" sx="70000" ty="0" sy="70000"/>
          </a:blipFill>
          <a:ln cap="flat" cmpd="sng" w="9525">
            <a:solidFill>
              <a:srgbClr val="59524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Attributes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1643042" y="2857496"/>
            <a:ext cx="2000264" cy="5715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874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Flying Birds</a:t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6000760" y="2786058"/>
            <a:ext cx="1857388" cy="5715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874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Non- Flying Birds</a:t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88" name="Google Shape;188;p25"/>
          <p:cNvCxnSpPr>
            <a:endCxn id="186" idx="0"/>
          </p:cNvCxnSpPr>
          <p:nvPr/>
        </p:nvCxnSpPr>
        <p:spPr>
          <a:xfrm flipH="1">
            <a:off x="2643174" y="2071796"/>
            <a:ext cx="857400" cy="78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5572132" y="2071678"/>
            <a:ext cx="928694" cy="7143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0" name="Google Shape;190;p25"/>
          <p:cNvSpPr/>
          <p:nvPr/>
        </p:nvSpPr>
        <p:spPr>
          <a:xfrm>
            <a:off x="1285852" y="4643446"/>
            <a:ext cx="1357322" cy="1071570"/>
          </a:xfrm>
          <a:prstGeom prst="ellipse">
            <a:avLst/>
          </a:prstGeom>
          <a:blipFill rotWithShape="1">
            <a:blip r:embed="rId5">
              <a:alphaModFix/>
            </a:blip>
            <a:tile algn="ctr" flip="none" tx="0" sx="70000" ty="0" sy="70000"/>
          </a:blipFill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parrot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3071802" y="4643446"/>
            <a:ext cx="1357322" cy="1071570"/>
          </a:xfrm>
          <a:prstGeom prst="ellipse">
            <a:avLst/>
          </a:prstGeom>
          <a:blipFill rotWithShape="1">
            <a:blip r:embed="rId5">
              <a:alphaModFix/>
            </a:blip>
            <a:tile algn="ctr" flip="none" tx="0" sx="70000" ty="0" sy="70000"/>
          </a:blipFill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crow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5072066" y="4643446"/>
            <a:ext cx="1357322" cy="1143008"/>
          </a:xfrm>
          <a:prstGeom prst="ellipse">
            <a:avLst/>
          </a:prstGeom>
          <a:blipFill rotWithShape="1">
            <a:blip r:embed="rId5">
              <a:alphaModFix/>
            </a:blip>
            <a:tile algn="ctr" flip="none" tx="0" sx="70000" ty="0" sy="70000"/>
          </a:blipFill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kiwi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7000892" y="4572008"/>
            <a:ext cx="1428760" cy="1143008"/>
          </a:xfrm>
          <a:prstGeom prst="ellipse">
            <a:avLst/>
          </a:prstGeom>
          <a:blipFill rotWithShape="1">
            <a:blip r:embed="rId5">
              <a:alphaModFix/>
            </a:blip>
            <a:tile algn="ctr" flip="none" tx="0" sx="70000" ty="0" sy="70000"/>
          </a:blipFill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penguin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94" name="Google Shape;194;p25"/>
          <p:cNvCxnSpPr>
            <a:endCxn id="190" idx="0"/>
          </p:cNvCxnSpPr>
          <p:nvPr/>
        </p:nvCxnSpPr>
        <p:spPr>
          <a:xfrm flipH="1">
            <a:off x="1964513" y="3929146"/>
            <a:ext cx="178500" cy="714300"/>
          </a:xfrm>
          <a:prstGeom prst="straightConnector1">
            <a:avLst/>
          </a:prstGeom>
          <a:noFill/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5" name="Google Shape;195;p25"/>
          <p:cNvCxnSpPr/>
          <p:nvPr/>
        </p:nvCxnSpPr>
        <p:spPr>
          <a:xfrm flipH="1" rot="-5400000">
            <a:off x="3000364" y="4071942"/>
            <a:ext cx="714380" cy="428628"/>
          </a:xfrm>
          <a:prstGeom prst="straightConnector1">
            <a:avLst/>
          </a:prstGeom>
          <a:noFill/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6" name="Google Shape;196;p25"/>
          <p:cNvCxnSpPr/>
          <p:nvPr/>
        </p:nvCxnSpPr>
        <p:spPr>
          <a:xfrm rot="5400000">
            <a:off x="5786446" y="4071942"/>
            <a:ext cx="714380" cy="428628"/>
          </a:xfrm>
          <a:prstGeom prst="straightConnector1">
            <a:avLst/>
          </a:prstGeom>
          <a:noFill/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7" name="Google Shape;197;p25"/>
          <p:cNvCxnSpPr/>
          <p:nvPr/>
        </p:nvCxnSpPr>
        <p:spPr>
          <a:xfrm flipH="1" rot="-5400000">
            <a:off x="7286644" y="4000504"/>
            <a:ext cx="642942" cy="500066"/>
          </a:xfrm>
          <a:prstGeom prst="straightConnector1">
            <a:avLst/>
          </a:prstGeom>
          <a:noFill/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/>
          <p:nvPr/>
        </p:nvSpPr>
        <p:spPr>
          <a:xfrm>
            <a:off x="827584" y="260648"/>
            <a:ext cx="7920880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8B1D1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3" name="Google Shape;203;p2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Encapsulation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The wrapping up of data and methods into a single unit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(called class) is known as ‘encapsulation’.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  The data is not accessible to the outside world and only the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 methods wrapped in the class, can access it.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 The insulation of data from direct access by the program is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called ‘data hiding’.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\Desktop\encap.png" id="209" name="Google Shape;20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52" y="1643051"/>
            <a:ext cx="6786610" cy="367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899592" y="260648"/>
            <a:ext cx="7776864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8B1D1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inheritance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Is the process by which objects of one class acquire the properties of objects of another class.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Inheritance supports the concept of hierarchical classification. For example , the bird parrot belongs to the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class flying bird, which is again a part of the class bird.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Inheritance provides the feature of reusability. This means we can add additional features to an existing class without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modifying it. The new class will have combined features of both the classes.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inheritance</a:t>
            </a:r>
            <a:endParaRPr/>
          </a:p>
        </p:txBody>
      </p:sp>
      <p:pic>
        <p:nvPicPr>
          <p:cNvPr descr="inh1.gif" id="222" name="Google Shape;22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34" y="1714489"/>
            <a:ext cx="4357718" cy="4214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heritance.jpg" id="223" name="Google Shape;223;p29"/>
          <p:cNvPicPr preferRelativeResize="0"/>
          <p:nvPr/>
        </p:nvPicPr>
        <p:blipFill rotWithShape="1">
          <a:blip r:embed="rId4">
            <a:alphaModFix/>
          </a:blip>
          <a:srcRect b="0" l="0" r="0" t="11628"/>
          <a:stretch/>
        </p:blipFill>
        <p:spPr>
          <a:xfrm>
            <a:off x="5214942" y="1714488"/>
            <a:ext cx="3286148" cy="34290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899592" y="260648"/>
            <a:ext cx="7776864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D07F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9" name="Google Shape;229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polymorphism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Means the ability to take more than one form.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Example : consider the operation of addition. For two numbers, the operation will generate a sum.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descr="poly.png" id="231" name="Google Shape;231;p30"/>
          <p:cNvPicPr preferRelativeResize="0"/>
          <p:nvPr/>
        </p:nvPicPr>
        <p:blipFill rotWithShape="1">
          <a:blip r:embed="rId4">
            <a:alphaModFix/>
          </a:blip>
          <a:srcRect b="0" l="3125" r="0" t="2778"/>
          <a:stretch/>
        </p:blipFill>
        <p:spPr>
          <a:xfrm>
            <a:off x="214283" y="3836360"/>
            <a:ext cx="4213702" cy="237870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oly1.png" id="232" name="Google Shape;23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8" y="4143380"/>
            <a:ext cx="4214842" cy="16948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827584" y="260648"/>
            <a:ext cx="7920880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59524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8" name="Google Shape;238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Dynamic Binding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Means that the code associated with a given procedural call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is not known until the time of the call at runtime.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</a:t>
            </a:r>
            <a:endParaRPr/>
          </a:p>
        </p:txBody>
      </p:sp>
      <p:pic>
        <p:nvPicPr>
          <p:cNvPr descr="db.jpg" id="240" name="Google Shape;240;p31"/>
          <p:cNvPicPr preferRelativeResize="0"/>
          <p:nvPr/>
        </p:nvPicPr>
        <p:blipFill rotWithShape="1">
          <a:blip r:embed="rId4">
            <a:alphaModFix/>
          </a:blip>
          <a:srcRect b="10416" l="0" r="879" t="13488"/>
          <a:stretch/>
        </p:blipFill>
        <p:spPr>
          <a:xfrm>
            <a:off x="1785918" y="2780928"/>
            <a:ext cx="5810418" cy="31683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899592" y="260648"/>
            <a:ext cx="7776864" cy="1152128"/>
          </a:xfrm>
          <a:prstGeom prst="rect">
            <a:avLst/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8B1D1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46" name="Google Shape;246;p32"/>
          <p:cNvSpPr txBox="1"/>
          <p:nvPr>
            <p:ph type="title"/>
          </p:nvPr>
        </p:nvSpPr>
        <p:spPr>
          <a:xfrm>
            <a:off x="914400" y="188640"/>
            <a:ext cx="7772400" cy="12289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br>
              <a:rPr b="1" lang="en-IN">
                <a:solidFill>
                  <a:schemeClr val="dk1"/>
                </a:solidFill>
              </a:rPr>
            </a:br>
            <a:r>
              <a:rPr b="1" lang="en-IN">
                <a:solidFill>
                  <a:schemeClr val="dk1"/>
                </a:solidFill>
              </a:rPr>
              <a:t>Message communication</a:t>
            </a:r>
            <a:br>
              <a:rPr lang="en-IN"/>
            </a:br>
            <a:endParaRPr/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Objects communicate with one another by sending and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receiving information.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  Message passing involves specifying the name of the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 object, the name of the method and the information to be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  sent.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en-IN"/>
              <a:t>   Objects have a life cycle. They can be created and 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en-IN"/>
              <a:t>       destroyed.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IN"/>
              <a:t>Message communication</a:t>
            </a:r>
            <a:endParaRPr/>
          </a:p>
        </p:txBody>
      </p:sp>
      <p:pic>
        <p:nvPicPr>
          <p:cNvPr descr="C:\Users\admin\Desktop\employee-salary.png" id="253" name="Google Shape;253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556792"/>
            <a:ext cx="5544616" cy="28803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33"/>
          <p:cNvSpPr txBox="1"/>
          <p:nvPr/>
        </p:nvSpPr>
        <p:spPr>
          <a:xfrm>
            <a:off x="899592" y="4653136"/>
            <a:ext cx="741682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Message passing specifies the name of the object, the name of the method and the information to be sent.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Here employee is an Object ,salary is the message and name is the parameter that contains the information.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/>
          <p:nvPr/>
        </p:nvSpPr>
        <p:spPr>
          <a:xfrm>
            <a:off x="683568" y="260648"/>
            <a:ext cx="7992888" cy="1224136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C341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0" name="Google Shape;260;p34"/>
          <p:cNvSpPr txBox="1"/>
          <p:nvPr>
            <p:ph type="title"/>
          </p:nvPr>
        </p:nvSpPr>
        <p:spPr>
          <a:xfrm>
            <a:off x="755576" y="26064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Benefits of Object oriented programming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914400" y="1628800"/>
            <a:ext cx="7772400" cy="43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85000"/>
              <a:buFont typeface="Noto Sans Symbols"/>
              <a:buChar char="❖"/>
            </a:pPr>
            <a:r>
              <a:rPr lang="en-IN"/>
              <a:t>     Through inheritance, we can eliminate redundant code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IN"/>
              <a:t>         and extend use of existing classes.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IN"/>
              <a:t> 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❖"/>
            </a:pPr>
            <a:r>
              <a:rPr lang="en-IN"/>
              <a:t>    Data hiding helps to build secure programs</a:t>
            </a:r>
            <a:endParaRPr/>
          </a:p>
          <a:p>
            <a:pPr indent="-14451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❖"/>
            </a:pPr>
            <a:r>
              <a:rPr lang="en-IN"/>
              <a:t>    Multiple objects can coexist without interference</a:t>
            </a:r>
            <a:endParaRPr/>
          </a:p>
          <a:p>
            <a:pPr indent="-14451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Font typeface="Noto Sans Symbols"/>
              <a:buChar char="❖"/>
            </a:pPr>
            <a:r>
              <a:rPr lang="en-IN"/>
              <a:t>    Object oriented systems can be easily upgraded from small to   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IN"/>
              <a:t>        large systems.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IN"/>
              <a:t>   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/>
          <p:nvPr/>
        </p:nvSpPr>
        <p:spPr>
          <a:xfrm>
            <a:off x="899592" y="332656"/>
            <a:ext cx="7848872" cy="1152128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tile algn="ctr" flip="none" tx="0" sx="70000" ty="0" sy="70000"/>
          </a:blipFill>
          <a:ln cap="flat" cmpd="sng" w="9525">
            <a:solidFill>
              <a:srgbClr val="C341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7" name="Google Shape;267;p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1" lang="en-IN">
                <a:solidFill>
                  <a:schemeClr val="dk1"/>
                </a:solidFill>
              </a:rPr>
              <a:t>Applications of OOP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Real-time systems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Object oriented databases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Artificial intelligence and expert systems</a:t>
            </a:r>
            <a:endParaRPr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IN"/>
              <a:t>CAD systems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3400"/>
              <a:buNone/>
            </a:pPr>
            <a:r>
              <a:rPr b="1" lang="en-IN" sz="4000">
                <a:solidFill>
                  <a:schemeClr val="accent1"/>
                </a:solidFill>
              </a:rPr>
              <a:t>               THANK YOU !!!!!!!!!!!</a:t>
            </a:r>
            <a:endParaRPr b="1" sz="4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quity">
  <a:themeElements>
    <a:clrScheme name="Pushpin">
      <a:dk1>
        <a:srgbClr val="000000"/>
      </a:dk1>
      <a:lt1>
        <a:srgbClr val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